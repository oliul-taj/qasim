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ECF"/>
    <a:srgbClr val="CB0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D6D08-0A0D-4BBD-A510-2B70A71F847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E2464-11A3-4AF2-A6E0-16A91538768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4984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B00DB"/>
                </a:solidFill>
              </a:rPr>
              <a:t>INITIATIVE NAME</a:t>
            </a:r>
            <a:endParaRPr lang="en-US" b="1" dirty="0">
              <a:solidFill>
                <a:srgbClr val="CB00D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575" y="1179195"/>
            <a:ext cx="11593830" cy="4834890"/>
          </a:xfrm>
          <a:ln>
            <a:noFill/>
          </a:ln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216ECF"/>
                </a:solidFill>
              </a:rPr>
              <a:t>Category Name:</a:t>
            </a:r>
            <a:r>
              <a:rPr lang="en-US" dirty="0">
                <a:solidFill>
                  <a:srgbClr val="216ECF"/>
                </a:solidFill>
              </a:rPr>
              <a:t> Education -AI Driven Personalized Solution</a:t>
            </a:r>
            <a:endParaRPr lang="en-US" dirty="0">
              <a:solidFill>
                <a:srgbClr val="216ECF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216ECF"/>
                </a:solidFill>
              </a:rPr>
              <a:t>Group Name:</a:t>
            </a:r>
            <a:r>
              <a:rPr lang="en-US" dirty="0">
                <a:solidFill>
                  <a:srgbClr val="216ECF"/>
                </a:solidFill>
              </a:rPr>
              <a:t> Buraq</a:t>
            </a:r>
            <a:endParaRPr lang="en-US" dirty="0">
              <a:solidFill>
                <a:srgbClr val="216ECF"/>
              </a:solidFill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216ECF"/>
                </a:solidFill>
              </a:rPr>
              <a:t>Project Name:</a:t>
            </a:r>
            <a:r>
              <a:rPr lang="en-US" dirty="0">
                <a:solidFill>
                  <a:srgbClr val="216ECF"/>
                </a:solidFill>
              </a:rPr>
              <a:t> QASIM (Quality Assesment of Simulation)</a:t>
            </a:r>
            <a:endParaRPr lang="en-US" dirty="0">
              <a:solidFill>
                <a:srgbClr val="216ECF"/>
              </a:solidFill>
            </a:endParaRPr>
          </a:p>
          <a:p>
            <a:pPr algn="l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216ECF"/>
                </a:solidFill>
              </a:rPr>
              <a:t>Team Members:</a:t>
            </a:r>
            <a:endParaRPr lang="en-US" b="1" dirty="0">
              <a:solidFill>
                <a:srgbClr val="216ECF"/>
              </a:solidFill>
            </a:endParaRPr>
          </a:p>
          <a:p>
            <a:pPr marL="1428750" lvl="2" indent="-514350">
              <a:buFont typeface="+mj-lt"/>
              <a:buAutoNum type="romanUcPeriod"/>
            </a:pPr>
            <a:r>
              <a:rPr lang="en-US" dirty="0">
                <a:solidFill>
                  <a:srgbClr val="216ECF"/>
                </a:solidFill>
              </a:rPr>
              <a:t> Mohammad Kawsar</a:t>
            </a:r>
            <a:endParaRPr lang="en-US" dirty="0">
              <a:solidFill>
                <a:srgbClr val="216ECF"/>
              </a:solidFill>
            </a:endParaRPr>
          </a:p>
          <a:p>
            <a:pPr marL="1428750" lvl="2" indent="-514350">
              <a:buFont typeface="+mj-lt"/>
              <a:buAutoNum type="romanUcPeriod"/>
            </a:pPr>
            <a:r>
              <a:rPr lang="en-US" dirty="0">
                <a:solidFill>
                  <a:srgbClr val="216ECF"/>
                </a:solidFill>
              </a:rPr>
              <a:t> Safius Sifat</a:t>
            </a:r>
            <a:endParaRPr lang="en-US" dirty="0">
              <a:solidFill>
                <a:srgbClr val="216ECF"/>
              </a:solidFill>
            </a:endParaRPr>
          </a:p>
          <a:p>
            <a:pPr marL="1428750" lvl="2" indent="-514350">
              <a:buFont typeface="+mj-lt"/>
              <a:buAutoNum type="romanUcPeriod"/>
            </a:pPr>
            <a:r>
              <a:rPr lang="en-US" dirty="0">
                <a:solidFill>
                  <a:srgbClr val="216ECF"/>
                </a:solidFill>
              </a:rPr>
              <a:t> Md. Morakib Hossain</a:t>
            </a:r>
            <a:endParaRPr lang="en-US" dirty="0">
              <a:solidFill>
                <a:srgbClr val="216ECF"/>
              </a:solidFill>
            </a:endParaRPr>
          </a:p>
          <a:p>
            <a:pPr marL="1428750" lvl="2" indent="-514350">
              <a:buFont typeface="+mj-lt"/>
              <a:buAutoNum type="romanUcPeriod"/>
            </a:pPr>
            <a:r>
              <a:rPr lang="en-US" dirty="0">
                <a:solidFill>
                  <a:srgbClr val="216ECF"/>
                </a:solidFill>
              </a:rPr>
              <a:t> Mir Oliul Pasha Taj</a:t>
            </a:r>
            <a:endParaRPr lang="en-US" dirty="0">
              <a:solidFill>
                <a:srgbClr val="216EC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4984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B00DB"/>
                </a:solidFill>
              </a:rPr>
              <a:t>PROBLEM STATMENT</a:t>
            </a:r>
            <a:endParaRPr lang="en-US" b="1" dirty="0">
              <a:solidFill>
                <a:srgbClr val="CB00D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59" y="1263192"/>
            <a:ext cx="11538408" cy="4913771"/>
          </a:xfrm>
          <a:ln>
            <a:noFill/>
          </a:ln>
        </p:spPr>
        <p:txBody>
          <a:bodyPr>
            <a:normAutofit fontScale="90000" lnSpcReduction="10000"/>
          </a:bodyPr>
          <a:lstStyle/>
          <a:p>
            <a:pPr marL="0" indent="0" algn="ctr">
              <a:buNone/>
            </a:pPr>
            <a:endParaRPr lang="en-US" dirty="0">
              <a:solidFill>
                <a:srgbClr val="216ECF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216ECF"/>
                </a:solidFill>
              </a:rPr>
              <a:t>Solving engineering mathematical problems like complex hand-drawn electrical circuits can be confusing and time consuming, which we intend to solve.</a:t>
            </a:r>
            <a:br>
              <a:rPr lang="en-US" sz="2400" b="1" dirty="0">
                <a:solidFill>
                  <a:srgbClr val="216ECF"/>
                </a:solidFill>
              </a:rPr>
            </a:br>
            <a:endParaRPr lang="en-US" sz="2400" b="1" dirty="0">
              <a:solidFill>
                <a:srgbClr val="216ECF"/>
              </a:solidFill>
            </a:endParaRPr>
          </a:p>
          <a:p>
            <a:pPr marL="0" indent="0" algn="ctr">
              <a:buNone/>
            </a:pPr>
            <a:endParaRPr lang="en-US" sz="2400" b="1" dirty="0">
              <a:solidFill>
                <a:srgbClr val="216ECF"/>
              </a:solidFill>
            </a:endParaRPr>
          </a:p>
          <a:p>
            <a:pPr marL="0" indent="0" algn="l">
              <a:buNone/>
            </a:pPr>
            <a:r>
              <a:rPr lang="en-US" sz="2220" b="1" dirty="0">
                <a:solidFill>
                  <a:srgbClr val="216ECF"/>
                </a:solidFill>
              </a:rPr>
              <a:t>Challenges in Circuit Solving:</a:t>
            </a:r>
            <a:endParaRPr lang="en-US" sz="2220" b="1" dirty="0">
              <a:solidFill>
                <a:srgbClr val="216ECF"/>
              </a:solidFill>
            </a:endParaRPr>
          </a:p>
          <a:p>
            <a:pPr marL="0" indent="0" algn="l">
              <a:buNone/>
            </a:pPr>
            <a:endParaRPr lang="en-US" sz="1800" dirty="0">
              <a:solidFill>
                <a:srgbClr val="216ECF"/>
              </a:solidFill>
            </a:endParaRPr>
          </a:p>
          <a:p>
            <a:pPr algn="l"/>
            <a:r>
              <a:rPr lang="en-US" sz="2000" dirty="0">
                <a:solidFill>
                  <a:srgbClr val="216ECF"/>
                </a:solidFill>
              </a:rPr>
              <a:t>Existing circuit simulators require installations and workstations.</a:t>
            </a:r>
            <a:endParaRPr lang="en-US" sz="2000" dirty="0">
              <a:solidFill>
                <a:srgbClr val="216ECF"/>
              </a:solidFill>
            </a:endParaRPr>
          </a:p>
          <a:p>
            <a:pPr marL="0" indent="0" algn="l">
              <a:buNone/>
            </a:pPr>
            <a:endParaRPr lang="en-US" sz="2000" dirty="0">
              <a:solidFill>
                <a:srgbClr val="216ECF"/>
              </a:solidFill>
            </a:endParaRPr>
          </a:p>
          <a:p>
            <a:pPr algn="l"/>
            <a:r>
              <a:rPr lang="en-US" sz="2000" dirty="0">
                <a:solidFill>
                  <a:srgbClr val="216ECF"/>
                </a:solidFill>
              </a:rPr>
              <a:t>Students face difficulty in recognizing hand-drawn circuits.</a:t>
            </a:r>
            <a:endParaRPr lang="en-US" sz="2000" dirty="0">
              <a:solidFill>
                <a:srgbClr val="216ECF"/>
              </a:solidFill>
            </a:endParaRPr>
          </a:p>
          <a:p>
            <a:pPr marL="0" indent="0" algn="l">
              <a:buNone/>
            </a:pPr>
            <a:endParaRPr lang="en-US" sz="2000" dirty="0">
              <a:solidFill>
                <a:srgbClr val="216ECF"/>
              </a:solidFill>
            </a:endParaRPr>
          </a:p>
          <a:p>
            <a:pPr algn="l"/>
            <a:r>
              <a:rPr lang="en-US" sz="2000" dirty="0">
                <a:solidFill>
                  <a:srgbClr val="216ECF"/>
                </a:solidFill>
              </a:rPr>
              <a:t>Traditional tools demand extensive training data for accuracy.</a:t>
            </a:r>
            <a:br>
              <a:rPr lang="en-US" sz="2400" b="1" dirty="0">
                <a:solidFill>
                  <a:srgbClr val="216ECF"/>
                </a:solidFill>
              </a:rPr>
            </a:br>
            <a:br>
              <a:rPr lang="en-US" sz="2400" dirty="0">
                <a:solidFill>
                  <a:srgbClr val="216ECF"/>
                </a:solidFill>
              </a:rPr>
            </a:br>
            <a:r>
              <a:rPr lang="en-US" sz="2400" dirty="0">
                <a:solidFill>
                  <a:srgbClr val="216ECF"/>
                </a:solidFill>
              </a:rPr>
              <a:t> </a:t>
            </a:r>
            <a:endParaRPr lang="en-US" sz="2400" dirty="0">
              <a:solidFill>
                <a:srgbClr val="216ECF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216ECF"/>
              </a:solidFill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044180" y="2692400"/>
            <a:ext cx="2931795" cy="28943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B00DB"/>
                </a:solidFill>
              </a:rPr>
              <a:t>AI-BASED SOLUTION BRIEF</a:t>
            </a:r>
            <a:endParaRPr lang="en-US" b="1" dirty="0">
              <a:solidFill>
                <a:srgbClr val="CB00D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275" y="1691005"/>
            <a:ext cx="5495925" cy="3980180"/>
          </a:xfrm>
          <a:ln>
            <a:noFill/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16ECF"/>
                </a:solidFill>
              </a:rPr>
              <a:t>Uses </a:t>
            </a:r>
            <a:r>
              <a:rPr lang="en-US" sz="2000" b="1" dirty="0">
                <a:solidFill>
                  <a:srgbClr val="216ECF"/>
                </a:solidFill>
              </a:rPr>
              <a:t>Capsule Networks</a:t>
            </a:r>
            <a:r>
              <a:rPr lang="en-US" sz="1700" dirty="0">
                <a:solidFill>
                  <a:srgbClr val="216ECF"/>
                </a:solidFill>
              </a:rPr>
              <a:t> </a:t>
            </a:r>
            <a:r>
              <a:rPr lang="en-US" sz="1800" dirty="0">
                <a:solidFill>
                  <a:srgbClr val="216ECF"/>
                </a:solidFill>
              </a:rPr>
              <a:t>to recognize and interpret hand-drawn circuits.</a:t>
            </a:r>
            <a:endParaRPr lang="en-US" sz="1800" dirty="0">
              <a:solidFill>
                <a:srgbClr val="216ECF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rgbClr val="216ECF"/>
              </a:solidFill>
            </a:endParaRPr>
          </a:p>
          <a:p>
            <a:r>
              <a:rPr lang="en-US" sz="1800" dirty="0">
                <a:solidFill>
                  <a:srgbClr val="216ECF"/>
                </a:solidFill>
              </a:rPr>
              <a:t>Integrates</a:t>
            </a:r>
            <a:r>
              <a:rPr lang="en-US" sz="1700" dirty="0">
                <a:solidFill>
                  <a:srgbClr val="216ECF"/>
                </a:solidFill>
              </a:rPr>
              <a:t> </a:t>
            </a:r>
            <a:r>
              <a:rPr lang="en-US" sz="2000" b="1" dirty="0">
                <a:solidFill>
                  <a:srgbClr val="216ECF"/>
                </a:solidFill>
              </a:rPr>
              <a:t>Augmented Reality (AR) </a:t>
            </a:r>
            <a:r>
              <a:rPr lang="en-US" sz="1800" dirty="0">
                <a:solidFill>
                  <a:srgbClr val="216ECF"/>
                </a:solidFill>
              </a:rPr>
              <a:t>for real-time feedback.</a:t>
            </a:r>
            <a:endParaRPr lang="en-US" sz="1800" dirty="0">
              <a:solidFill>
                <a:srgbClr val="216ECF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rgbClr val="216ECF"/>
              </a:solidFill>
            </a:endParaRPr>
          </a:p>
          <a:p>
            <a:r>
              <a:rPr lang="en-US" sz="1800" dirty="0">
                <a:solidFill>
                  <a:srgbClr val="216ECF"/>
                </a:solidFill>
              </a:rPr>
              <a:t>Requires</a:t>
            </a:r>
            <a:r>
              <a:rPr lang="en-US" sz="1800" b="1" dirty="0">
                <a:solidFill>
                  <a:srgbClr val="216ECF"/>
                </a:solidFill>
              </a:rPr>
              <a:t> </a:t>
            </a:r>
            <a:r>
              <a:rPr lang="en-US" sz="2000" b="1" dirty="0">
                <a:solidFill>
                  <a:srgbClr val="216ECF"/>
                </a:solidFill>
              </a:rPr>
              <a:t>less training data</a:t>
            </a:r>
            <a:r>
              <a:rPr lang="en-US" sz="1700" dirty="0">
                <a:solidFill>
                  <a:srgbClr val="216ECF"/>
                </a:solidFill>
              </a:rPr>
              <a:t> </a:t>
            </a:r>
            <a:r>
              <a:rPr lang="en-US" sz="1800" dirty="0">
                <a:solidFill>
                  <a:srgbClr val="216ECF"/>
                </a:solidFill>
              </a:rPr>
              <a:t>while improving recognition accuracy.</a:t>
            </a:r>
            <a:endParaRPr lang="en-US" sz="1800" dirty="0">
              <a:solidFill>
                <a:srgbClr val="216ECF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rgbClr val="216ECF"/>
              </a:solidFill>
            </a:endParaRPr>
          </a:p>
          <a:p>
            <a:r>
              <a:rPr lang="en-US" sz="2000" b="1" dirty="0">
                <a:solidFill>
                  <a:srgbClr val="216ECF"/>
                </a:solidFill>
              </a:rPr>
              <a:t>Mobile-based solution</a:t>
            </a:r>
            <a:r>
              <a:rPr lang="en-US" sz="1700" dirty="0">
                <a:solidFill>
                  <a:srgbClr val="216ECF"/>
                </a:solidFill>
              </a:rPr>
              <a:t> </a:t>
            </a:r>
            <a:r>
              <a:rPr lang="en-US" sz="1800" dirty="0">
                <a:solidFill>
                  <a:srgbClr val="216ECF"/>
                </a:solidFill>
              </a:rPr>
              <a:t>to make circuit analysis accessible anytime, anywhere</a:t>
            </a:r>
            <a:endParaRPr lang="en-US" sz="1800" dirty="0">
              <a:solidFill>
                <a:srgbClr val="216ECF"/>
              </a:solidFill>
            </a:endParaRPr>
          </a:p>
        </p:txBody>
      </p:sp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86500" y="1342390"/>
            <a:ext cx="5067300" cy="23983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547110"/>
            <a:ext cx="5067300" cy="220853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90920" y="1337945"/>
            <a:ext cx="9525" cy="4524375"/>
          </a:xfrm>
          <a:prstGeom prst="line">
            <a:avLst/>
          </a:prstGeom>
          <a:ln w="4445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B00DB"/>
                </a:solidFill>
              </a:rPr>
              <a:t>EXPECTED IMPACTS</a:t>
            </a:r>
            <a:endParaRPr lang="en-US" b="1" dirty="0">
              <a:solidFill>
                <a:srgbClr val="CB00D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216ECF"/>
                </a:solidFill>
              </a:rPr>
              <a:t>Integration of machine learning techniques, particularly capsule networks, to recognize and detect circuit elements from images captured by smartphones.</a:t>
            </a:r>
            <a:endParaRPr lang="en-US" sz="1800" dirty="0">
              <a:solidFill>
                <a:srgbClr val="216EC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216ECF"/>
              </a:solidFill>
            </a:endParaRPr>
          </a:p>
          <a:p>
            <a:r>
              <a:rPr lang="en-US" sz="1800" dirty="0">
                <a:solidFill>
                  <a:srgbClr val="216ECF"/>
                </a:solidFill>
              </a:rPr>
              <a:t>Introduction of capsule networks as a novel technique in deep learning to significantly reduce the training data requirement for circuit recognition.</a:t>
            </a:r>
            <a:endParaRPr lang="en-US" sz="1800" dirty="0">
              <a:solidFill>
                <a:srgbClr val="216ECF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rgbClr val="216ECF"/>
              </a:solidFill>
            </a:endParaRPr>
          </a:p>
          <a:p>
            <a:r>
              <a:rPr lang="en-US" sz="1800" dirty="0">
                <a:solidFill>
                  <a:srgbClr val="216ECF"/>
                </a:solidFill>
              </a:rPr>
              <a:t>Development of a smartphone application for real-time analysis of hand-drawn circuits.</a:t>
            </a:r>
            <a:endParaRPr lang="en-US" sz="1800" dirty="0">
              <a:solidFill>
                <a:srgbClr val="216ECF"/>
              </a:solidFill>
            </a:endParaRPr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43015" y="1495425"/>
            <a:ext cx="5181600" cy="247840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380" y="3750945"/>
            <a:ext cx="5182235" cy="234061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6091555" y="1495425"/>
            <a:ext cx="23495" cy="4638675"/>
          </a:xfrm>
          <a:prstGeom prst="line">
            <a:avLst/>
          </a:prstGeom>
          <a:ln w="4445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4984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B00DB"/>
                </a:solidFill>
              </a:rPr>
              <a:t>RESPONSIBLE AI USAGE STATEMENT</a:t>
            </a:r>
            <a:endParaRPr lang="en-US" b="1" dirty="0">
              <a:solidFill>
                <a:srgbClr val="CB00D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90" y="1263191"/>
            <a:ext cx="11830639" cy="4913772"/>
          </a:xfrm>
          <a:ln>
            <a:noFill/>
          </a:ln>
        </p:spPr>
        <p:txBody>
          <a:bodyPr>
            <a:normAutofit lnSpcReduction="10000"/>
          </a:bodyPr>
          <a:lstStyle/>
          <a:p>
            <a:pPr rtl="0">
              <a:spcAft>
                <a:spcPts val="1200"/>
              </a:spcAft>
            </a:pPr>
            <a:endParaRPr lang="en-US" sz="2000" b="1" i="0" u="none" strike="noStrike" dirty="0">
              <a:solidFill>
                <a:srgbClr val="216ECF"/>
              </a:solidFill>
              <a:effectLst/>
            </a:endParaRPr>
          </a:p>
          <a:p>
            <a:pPr rtl="0">
              <a:spcAft>
                <a:spcPts val="1200"/>
              </a:spcAft>
            </a:pPr>
            <a:r>
              <a:rPr lang="en-US" sz="2000" b="1" i="0" u="none" strike="noStrike" dirty="0">
                <a:solidFill>
                  <a:srgbClr val="216ECF"/>
                </a:solidFill>
                <a:effectLst/>
              </a:rPr>
              <a:t>Ethical Considerations:</a:t>
            </a:r>
            <a:r>
              <a:rPr lang="en-US" sz="1600" i="0" u="none" strike="noStrike" dirty="0">
                <a:solidFill>
                  <a:srgbClr val="216ECF"/>
                </a:solidFill>
                <a:effectLst/>
              </a:rPr>
              <a:t> </a:t>
            </a:r>
            <a:r>
              <a:rPr lang="en-US" sz="1800" i="0" u="none" strike="noStrike" dirty="0">
                <a:solidFill>
                  <a:srgbClr val="216ECF"/>
                </a:solidFill>
                <a:effectLst/>
              </a:rPr>
              <a:t>In this segment there AI can only support mankind.</a:t>
            </a:r>
            <a:endParaRPr lang="en-US" sz="1600" i="0" u="none" strike="noStrike" dirty="0">
              <a:solidFill>
                <a:srgbClr val="216ECF"/>
              </a:solidFill>
              <a:effectLst/>
            </a:endParaRPr>
          </a:p>
          <a:p>
            <a:pPr rtl="0">
              <a:spcAft>
                <a:spcPts val="1200"/>
              </a:spcAft>
            </a:pPr>
            <a:r>
              <a:rPr lang="en-US" sz="2000" b="1" i="0" u="none" strike="noStrike" dirty="0">
                <a:solidFill>
                  <a:srgbClr val="216ECF"/>
                </a:solidFill>
                <a:effectLst/>
              </a:rPr>
              <a:t>Limitations:</a:t>
            </a:r>
            <a:r>
              <a:rPr lang="en-US" sz="1800" b="1" i="0" u="none" strike="noStrike" dirty="0">
                <a:solidFill>
                  <a:srgbClr val="216ECF"/>
                </a:solidFill>
                <a:effectLst/>
              </a:rPr>
              <a:t> </a:t>
            </a:r>
            <a:r>
              <a:rPr lang="en-US" sz="1800" i="0" u="none" strike="noStrike" dirty="0">
                <a:solidFill>
                  <a:srgbClr val="216ECF"/>
                </a:solidFill>
                <a:effectLst/>
              </a:rPr>
              <a:t>Our system currently can solve electrical circuits only but we are working on adding different sectors.</a:t>
            </a:r>
            <a:endParaRPr lang="en-US" sz="1600" i="0" u="none" strike="noStrike" dirty="0">
              <a:solidFill>
                <a:srgbClr val="216ECF"/>
              </a:solidFill>
              <a:effectLst/>
            </a:endParaRPr>
          </a:p>
          <a:p>
            <a:pPr rtl="0">
              <a:spcAft>
                <a:spcPts val="1200"/>
              </a:spcAft>
            </a:pPr>
            <a:r>
              <a:rPr lang="en-US" sz="2000" b="1" i="0" u="none" strike="noStrike" dirty="0">
                <a:solidFill>
                  <a:srgbClr val="216ECF"/>
                </a:solidFill>
                <a:effectLst/>
              </a:rPr>
              <a:t>Bias and Accuracy:</a:t>
            </a:r>
            <a:r>
              <a:rPr lang="en-US" sz="1600" i="0" u="none" strike="noStrike" dirty="0">
                <a:solidFill>
                  <a:srgbClr val="216ECF"/>
                </a:solidFill>
                <a:effectLst/>
              </a:rPr>
              <a:t> </a:t>
            </a:r>
            <a:r>
              <a:rPr lang="en-US" sz="1800" i="0" u="none" strike="noStrike" dirty="0">
                <a:solidFill>
                  <a:srgbClr val="216ECF"/>
                </a:solidFill>
                <a:effectLst/>
              </a:rPr>
              <a:t>System is being trained to generalize different handwritten styles.</a:t>
            </a:r>
            <a:br>
              <a:rPr lang="en-US" sz="1100" dirty="0"/>
            </a:br>
            <a:endParaRPr lang="en-US" sz="1100" dirty="0"/>
          </a:p>
          <a:p>
            <a:pPr rtl="0">
              <a:spcAft>
                <a:spcPts val="1200"/>
              </a:spcAft>
            </a:pPr>
            <a:endParaRPr lang="en-US" sz="1600" dirty="0">
              <a:solidFill>
                <a:srgbClr val="216ECF"/>
              </a:solidFill>
            </a:endParaRPr>
          </a:p>
          <a:p>
            <a:pPr marL="0" indent="0" rt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16ECF"/>
                </a:solidFill>
              </a:rPr>
              <a:t>References:</a:t>
            </a:r>
            <a:endParaRPr lang="en-US" sz="2000" b="1" dirty="0">
              <a:solidFill>
                <a:srgbClr val="216ECF"/>
              </a:solidFill>
            </a:endParaRPr>
          </a:p>
          <a:p>
            <a:pPr marL="0" indent="0" rt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16ECF"/>
                </a:solidFill>
              </a:rPr>
              <a:t>❖ [1] Rehmat, A.; Hartley, K. Building Engineering Awareness: Problem Based Learning Approach for STEM Integration. Interdiscip. J. Probl.-Based Learn. 2020, 14, n1.</a:t>
            </a:r>
            <a:endParaRPr lang="en-US" sz="1000" dirty="0">
              <a:solidFill>
                <a:srgbClr val="216ECF"/>
              </a:solidFill>
            </a:endParaRPr>
          </a:p>
          <a:p>
            <a:pPr marL="0" indent="0" rt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16ECF"/>
                </a:solidFill>
              </a:rPr>
              <a:t>❖ [2] Sabour, S.; Frosst, N.; Hinton, G.E. Dynamic Routing Between Capsules. In Advances in Neural Information Processing Systems Curran Associates, Inc.: NewYork, NY, USA, 2017; pp. 3859–3869.</a:t>
            </a:r>
            <a:endParaRPr lang="en-US" sz="1000" dirty="0">
              <a:solidFill>
                <a:srgbClr val="216ECF"/>
              </a:solidFill>
            </a:endParaRPr>
          </a:p>
          <a:p>
            <a:pPr marL="0" indent="0" rtl="0">
              <a:spcAft>
                <a:spcPts val="1200"/>
              </a:spcAft>
              <a:buNone/>
            </a:pPr>
            <a:r>
              <a:rPr lang="en-US" sz="1000" dirty="0">
                <a:solidFill>
                  <a:srgbClr val="216ECF"/>
                </a:solidFill>
              </a:rPr>
              <a:t>❖ [3] Rabbani, M.; Khoshkangini, R.; Nagendraswamy, H.; Conti, M. Hand Drawn Optical Circuit Recognition. Procedia Comput. Sci. 2016, 84, 41–48.</a:t>
            </a:r>
            <a:endParaRPr lang="en-US" sz="1000" dirty="0">
              <a:solidFill>
                <a:srgbClr val="216EC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90" y="1263191"/>
            <a:ext cx="11830639" cy="4913772"/>
          </a:xfrm>
          <a:ln>
            <a:noFill/>
          </a:ln>
        </p:spPr>
        <p:txBody>
          <a:bodyPr>
            <a:normAutofit/>
          </a:bodyPr>
          <a:lstStyle/>
          <a:p>
            <a:pPr rtl="0">
              <a:spcAft>
                <a:spcPts val="1200"/>
              </a:spcAft>
            </a:pPr>
            <a:endParaRPr lang="en-US" sz="2000" b="1" i="0" u="none" strike="noStrike" dirty="0">
              <a:solidFill>
                <a:srgbClr val="216ECF"/>
              </a:solidFill>
              <a:effectLst/>
            </a:endParaRPr>
          </a:p>
          <a:p>
            <a:pPr marL="0" indent="0" rtl="0">
              <a:spcAft>
                <a:spcPts val="1200"/>
              </a:spcAft>
              <a:buNone/>
            </a:pPr>
            <a:endParaRPr lang="en-US" sz="1600" dirty="0">
              <a:solidFill>
                <a:srgbClr val="216ECF"/>
              </a:solidFill>
            </a:endParaRPr>
          </a:p>
          <a:p>
            <a:pPr marL="0" indent="0" algn="ctr" rtl="0">
              <a:spcAft>
                <a:spcPts val="1200"/>
              </a:spcAft>
              <a:buNone/>
            </a:pPr>
            <a:r>
              <a:rPr lang="en-US" sz="9600" dirty="0">
                <a:solidFill>
                  <a:srgbClr val="216ECF"/>
                </a:solidFill>
              </a:rPr>
              <a:t>Thank you</a:t>
            </a:r>
            <a:endParaRPr lang="en-US" sz="9600" dirty="0">
              <a:solidFill>
                <a:srgbClr val="216EC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2135</Words>
  <Application>WPS Presentation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1_Office Theme</vt:lpstr>
      <vt:lpstr>PowerPoint 演示文稿</vt:lpstr>
      <vt:lpstr>INITIATIVE NAME</vt:lpstr>
      <vt:lpstr>PROBLEM STATMENT</vt:lpstr>
      <vt:lpstr>AI-BASED SOLUTION BRIEF</vt:lpstr>
      <vt:lpstr>EXPECTED IMPACTS</vt:lpstr>
      <vt:lpstr>RESPONSIBLE AI USAGE STATEMENT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Labib Rahman</dc:creator>
  <cp:lastModifiedBy>Oliul Taj</cp:lastModifiedBy>
  <cp:revision>9</cp:revision>
  <dcterms:created xsi:type="dcterms:W3CDTF">2025-03-16T06:09:00Z</dcterms:created>
  <dcterms:modified xsi:type="dcterms:W3CDTF">2025-05-07T02:32:22Z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E4F29A6681EC462092083071B9708AD5</vt:lpwstr>
  </property>
  <property fmtid="{D5CDD505-2E9C-101B-9397-08002B2CF9AE}" pid="3" name="KSOProductBuildVer">
    <vt:lpwstr>1033-11.2.0.10265</vt:lpwstr>
  </property>
</Properties>
</file>